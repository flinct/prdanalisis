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EEF2FF"/>
                </a:solidFill>
              </a:rPr>
              <a:t>SatuInbox Product Progress — Monthly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8B0D3"/>
                </a:solidFill>
              </a:rPr>
              <a:t>Meeting date: 2026-07-22 | Generated date: 2026-07-22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3474720" cy="1463040"/>
          </a:xfrm>
          <a:prstGeom prst="rect">
            <a:avLst/>
          </a:prstGeom>
          <a:solidFill>
            <a:srgbClr val="121937"/>
          </a:solidFill>
          <a:ln>
            <a:solidFill>
              <a:srgbClr val="2C3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A8B0D3"/>
                </a:solidFill>
              </a:rPr>
              <a:t>Complete 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EEF2FF"/>
                </a:solidFill>
              </a:rPr>
              <a:t>v2.7.0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8B0D3"/>
                </a:solidFill>
              </a:rPr>
              <a:t>44 tickets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79" y="1828800"/>
            <a:ext cx="3474720" cy="1463040"/>
          </a:xfrm>
          <a:prstGeom prst="rect">
            <a:avLst/>
          </a:prstGeom>
          <a:solidFill>
            <a:srgbClr val="121937"/>
          </a:solidFill>
          <a:ln>
            <a:solidFill>
              <a:srgbClr val="2C3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96596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A8B0D3"/>
                </a:solidFill>
              </a:rPr>
              <a:t>Ongoing 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2402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EEF2FF"/>
                </a:solidFill>
              </a:rPr>
              <a:t>v2.8.0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74320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8B0D3"/>
                </a:solidFill>
              </a:rPr>
              <a:t>73 tickets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1828800"/>
            <a:ext cx="3474720" cy="1463040"/>
          </a:xfrm>
          <a:prstGeom prst="rect">
            <a:avLst/>
          </a:prstGeom>
          <a:solidFill>
            <a:srgbClr val="121937"/>
          </a:solidFill>
          <a:ln>
            <a:solidFill>
              <a:srgbClr val="2C3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9" y="196596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A8B0D3"/>
                </a:solidFill>
              </a:rPr>
              <a:t>Next Planned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9" y="22402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EEF2FF"/>
                </a:solidFill>
              </a:rPr>
              <a:t>v2.9.0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274320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8B0D3"/>
                </a:solidFill>
              </a:rPr>
              <a:t>39 tickets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EEF2FF"/>
                </a:solidFill>
              </a:rPr>
              <a:t>Monthly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3474720" cy="1371600"/>
          </a:xfrm>
          <a:prstGeom prst="rect">
            <a:avLst/>
          </a:prstGeom>
          <a:solidFill>
            <a:srgbClr val="121937"/>
          </a:solidFill>
          <a:ln>
            <a:solidFill>
              <a:srgbClr val="2C3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A8B0D3"/>
                </a:solidFill>
              </a:rPr>
              <a:t>Complete Ver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EEF2FF"/>
                </a:solidFill>
              </a:rPr>
              <a:t>v2.7.0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8B0D3"/>
                </a:solidFill>
              </a:rPr>
              <a:t>44 total tickets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097280"/>
            <a:ext cx="3474720" cy="1371600"/>
          </a:xfrm>
          <a:prstGeom prst="rect">
            <a:avLst/>
          </a:prstGeom>
          <a:solidFill>
            <a:srgbClr val="121937"/>
          </a:solidFill>
          <a:ln>
            <a:solidFill>
              <a:srgbClr val="2C3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23444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A8B0D3"/>
                </a:solidFill>
              </a:rPr>
              <a:t>Ongoing Ver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5087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EEF2FF"/>
                </a:solidFill>
              </a:rPr>
              <a:t>v2.8.0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0116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8B0D3"/>
                </a:solidFill>
              </a:rPr>
              <a:t>73 total tickets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097280"/>
            <a:ext cx="3474720" cy="1371600"/>
          </a:xfrm>
          <a:prstGeom prst="rect">
            <a:avLst/>
          </a:prstGeom>
          <a:solidFill>
            <a:srgbClr val="121937"/>
          </a:solidFill>
          <a:ln>
            <a:solidFill>
              <a:srgbClr val="2C3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23444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A8B0D3"/>
                </a:solidFill>
              </a:rPr>
              <a:t>Next Planned Ver Total Ticket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5087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EEF2FF"/>
                </a:solidFill>
              </a:rPr>
              <a:t>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8B0D3"/>
                </a:solidFill>
              </a:rPr>
              <a:t>v2.9.0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2608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EF2FF"/>
                </a:solidFill>
              </a:defRPr>
            </a:pPr>
            <a:r>
              <a:t>42 closed items</a:t>
            </a:r>
          </a:p>
          <a:p>
            <a:pPr>
              <a:defRPr sz="1800">
                <a:solidFill>
                  <a:srgbClr val="EEF2FF"/>
                </a:solidFill>
              </a:defRPr>
            </a:pPr>
            <a:r>
              <a:t>2 items still in testing</a:t>
            </a:r>
          </a:p>
          <a:p>
            <a:pPr>
              <a:defRPr sz="1800">
                <a:solidFill>
                  <a:srgbClr val="EEF2FF"/>
                </a:solidFill>
              </a:defRPr>
            </a:pPr>
            <a:r>
              <a:t>Release mostly 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2608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EF2FF"/>
                </a:solidFill>
              </a:defRPr>
            </a:pPr>
            <a:r>
              <a:t>10 in progress</a:t>
            </a:r>
          </a:p>
          <a:p>
            <a:pPr>
              <a:defRPr sz="1800">
                <a:solidFill>
                  <a:srgbClr val="EEF2FF"/>
                </a:solidFill>
              </a:defRPr>
            </a:pPr>
            <a:r>
              <a:t>6 risk items (test failed/on hold)</a:t>
            </a:r>
          </a:p>
          <a:p>
            <a:pPr>
              <a:defRPr sz="1800">
                <a:solidFill>
                  <a:srgbClr val="EEF2FF"/>
                </a:solidFill>
              </a:defRPr>
            </a:pPr>
            <a:r>
              <a:t>Bug-heavy delivery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26080"/>
            <a:ext cx="29260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EF2FF"/>
                </a:solidFill>
              </a:defRPr>
            </a:pPr>
            <a:r>
              <a:t>38 items still planning/spec</a:t>
            </a:r>
          </a:p>
          <a:p>
            <a:pPr>
              <a:defRPr sz="1800">
                <a:solidFill>
                  <a:srgbClr val="EEF2FF"/>
                </a:solidFill>
              </a:defRPr>
            </a:pPr>
            <a:r>
              <a:t>1 item already active</a:t>
            </a:r>
          </a:p>
          <a:p>
            <a:pPr>
              <a:defRPr sz="1800">
                <a:solidFill>
                  <a:srgbClr val="EEF2FF"/>
                </a:solidFill>
              </a:defRPr>
            </a:pPr>
            <a:r>
              <a:t>Need shortlist before build wave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EEF2FF"/>
                </a:solidFill>
              </a:rPr>
              <a:t>Version Timeline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EF2FF"/>
                          </a:solidFill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121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EF2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21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EF2FF"/>
                          </a:solidFill>
                        </a:defRPr>
                      </a:pPr>
                      <a:r>
                        <a:t>Deadline</a:t>
                      </a:r>
                    </a:p>
                  </a:txBody>
                  <a:tcPr>
                    <a:solidFill>
                      <a:srgbClr val="121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EF2FF"/>
                          </a:solidFill>
                        </a:defRPr>
                      </a:pPr>
                      <a:r>
                        <a:t>Actual</a:t>
                      </a:r>
                    </a:p>
                  </a:txBody>
                  <a:tcPr>
                    <a:solidFill>
                      <a:srgbClr val="12193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EF2FF"/>
                          </a:solidFill>
                        </a:defRPr>
                      </a:pPr>
                      <a:r>
                        <a:t>v2.7.0</a:t>
                      </a:r>
                    </a:p>
                  </a:txBody>
                  <a:tcPr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EF2FF"/>
                          </a:solidFill>
                        </a:defRPr>
                      </a:pPr>
                      <a:r>
                        <a:t>Released / Mostly Closed</a:t>
                      </a:r>
                    </a:p>
                  </a:txBody>
                  <a:tcPr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EF2FF"/>
                          </a:solidFill>
                        </a:defRPr>
                      </a:pPr>
                      <a:r>
                        <a:t>Belum tersedia</a:t>
                      </a:r>
                    </a:p>
                  </a:txBody>
                  <a:tcPr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EF2FF"/>
                          </a:solidFill>
                        </a:defRPr>
                      </a:pPr>
                      <a:r>
                        <a:t>Belum tersedia di source fetch</a:t>
                      </a:r>
                    </a:p>
                  </a:txBody>
                  <a:tcPr>
                    <a:solidFill>
                      <a:srgbClr val="0B102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EF2FF"/>
                          </a:solidFill>
                        </a:defRPr>
                      </a:pPr>
                      <a:r>
                        <a:t>v2.8.0</a:t>
                      </a:r>
                    </a:p>
                  </a:txBody>
                  <a:tcPr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EF2FF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EF2FF"/>
                          </a:solidFill>
                        </a:defRPr>
                      </a:pPr>
                      <a:r>
                        <a:t>Estimated</a:t>
                      </a:r>
                    </a:p>
                  </a:txBody>
                  <a:tcPr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EF2FF"/>
                          </a:solidFill>
                        </a:defRPr>
                      </a:pPr>
                      <a:r>
                        <a:t>Estimated</a:t>
                      </a:r>
                    </a:p>
                  </a:txBody>
                  <a:tcPr>
                    <a:solidFill>
                      <a:srgbClr val="0B102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EF2FF"/>
                          </a:solidFill>
                        </a:defRPr>
                      </a:pPr>
                      <a:r>
                        <a:t>v2.9.0</a:t>
                      </a:r>
                    </a:p>
                  </a:txBody>
                  <a:tcPr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EF2FF"/>
                          </a:solidFill>
                        </a:defRPr>
                      </a:pPr>
                      <a:r>
                        <a:t>Specification / Planning</a:t>
                      </a:r>
                    </a:p>
                  </a:txBody>
                  <a:tcPr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EF2FF"/>
                          </a:solidFill>
                        </a:defRPr>
                      </a:pPr>
                      <a:r>
                        <a:t>Estimated</a:t>
                      </a:r>
                    </a:p>
                  </a:txBody>
                  <a:tcPr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EF2FF"/>
                          </a:solidFill>
                        </a:defRPr>
                      </a:pPr>
                      <a:r>
                        <a:t>Estimated</a:t>
                      </a:r>
                    </a:p>
                  </a:txBody>
                  <a:tcPr>
                    <a:solidFill>
                      <a:srgbClr val="0B102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3840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8B0D3"/>
                </a:solidFill>
              </a:rPr>
              <a:t>Rule: source has no date field, so unreleased versions stay Estimated.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EEF2FF"/>
                </a:solidFill>
              </a:rPr>
              <a:t>Naftal — 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A8B0D3"/>
                </a:solidFill>
              </a:rPr>
              <a:t>Monthly owner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0" cy="4389120"/>
          </a:xfrm>
          <a:prstGeom prst="rect">
            <a:avLst/>
          </a:prstGeom>
          <a:solidFill>
            <a:srgbClr val="121937"/>
          </a:solidFill>
          <a:ln>
            <a:solidFill>
              <a:srgbClr val="2C3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9E0B"/>
                </a:solidFill>
              </a:rPr>
              <a:t>Current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EF2FF"/>
                </a:solidFill>
              </a:defRPr>
            </a:pPr>
            <a:r>
              <a:t>Lead engineering execution across active versions</a:t>
            </a:r>
          </a:p>
          <a:p>
            <a:pPr>
              <a:defRPr sz="1800">
                <a:solidFill>
                  <a:srgbClr val="EEF2FF"/>
                </a:solidFill>
              </a:defRPr>
            </a:pPr>
            <a:r>
              <a:t>Focus: delivery blockers, code path decisions, release readiness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9E0B"/>
                </a:solidFill>
              </a:rPr>
              <a:t>Version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8B0D3"/>
                </a:solidFill>
              </a:defRPr>
            </a:pPr>
            <a:r>
              <a:t>Complete version: v2.7.0 (44 tickets)</a:t>
            </a:r>
          </a:p>
          <a:p>
            <a:pPr>
              <a:defRPr sz="1600">
                <a:solidFill>
                  <a:srgbClr val="A8B0D3"/>
                </a:solidFill>
              </a:defRPr>
            </a:pPr>
            <a:r>
              <a:t>Ongoing version: v2.8.0 (73 tickets)</a:t>
            </a:r>
          </a:p>
          <a:p>
            <a:pPr>
              <a:defRPr sz="1600">
                <a:solidFill>
                  <a:srgbClr val="A8B0D3"/>
                </a:solidFill>
              </a:defRPr>
            </a:pPr>
            <a:r>
              <a:t>Next planned version: v2.9.0 (39 tickets)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EEF2FF"/>
                </a:solidFill>
              </a:rPr>
              <a:t>Agung — 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A8B0D3"/>
                </a:solidFill>
              </a:rPr>
              <a:t>Monthly owner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0" cy="4389120"/>
          </a:xfrm>
          <a:prstGeom prst="rect">
            <a:avLst/>
          </a:prstGeom>
          <a:solidFill>
            <a:srgbClr val="121937"/>
          </a:solidFill>
          <a:ln>
            <a:solidFill>
              <a:srgbClr val="2C3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9E0B"/>
                </a:solidFill>
              </a:rPr>
              <a:t>Current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EF2FF"/>
                </a:solidFill>
              </a:defRPr>
            </a:pPr>
            <a:r>
              <a:t>Support engineering build and bug-fix stream</a:t>
            </a:r>
          </a:p>
          <a:p>
            <a:pPr>
              <a:defRPr sz="1800">
                <a:solidFill>
                  <a:srgbClr val="EEF2FF"/>
                </a:solidFill>
              </a:defRPr>
            </a:pPr>
            <a:r>
              <a:t>Focus: active tickets and implementation follow-up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9E0B"/>
                </a:solidFill>
              </a:rPr>
              <a:t>Version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8B0D3"/>
                </a:solidFill>
              </a:defRPr>
            </a:pPr>
            <a:r>
              <a:t>Complete version: v2.7.0 (44 tickets)</a:t>
            </a:r>
          </a:p>
          <a:p>
            <a:pPr>
              <a:defRPr sz="1600">
                <a:solidFill>
                  <a:srgbClr val="A8B0D3"/>
                </a:solidFill>
              </a:defRPr>
            </a:pPr>
            <a:r>
              <a:t>Ongoing version: v2.8.0 (73 tickets)</a:t>
            </a:r>
          </a:p>
          <a:p>
            <a:pPr>
              <a:defRPr sz="1600">
                <a:solidFill>
                  <a:srgbClr val="A8B0D3"/>
                </a:solidFill>
              </a:defRPr>
            </a:pPr>
            <a:r>
              <a:t>Next planned version: v2.9.0 (39 tickets)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EEF2FF"/>
                </a:solidFill>
              </a:rPr>
              <a:t>Dany — 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A8B0D3"/>
                </a:solidFill>
              </a:rPr>
              <a:t>Monthly owner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0" cy="4389120"/>
          </a:xfrm>
          <a:prstGeom prst="rect">
            <a:avLst/>
          </a:prstGeom>
          <a:solidFill>
            <a:srgbClr val="121937"/>
          </a:solidFill>
          <a:ln>
            <a:solidFill>
              <a:srgbClr val="2C3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9E0B"/>
                </a:solidFill>
              </a:rPr>
              <a:t>Current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EF2FF"/>
                </a:solidFill>
              </a:defRPr>
            </a:pPr>
            <a:r>
              <a:t>Track product-engineering alignment for current scope</a:t>
            </a:r>
          </a:p>
          <a:p>
            <a:pPr>
              <a:defRPr sz="1800">
                <a:solidFill>
                  <a:srgbClr val="EEF2FF"/>
                </a:solidFill>
              </a:defRPr>
            </a:pPr>
            <a:r>
              <a:t>Focus: requirement clarity, milestone sync, progress visibility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9E0B"/>
                </a:solidFill>
              </a:rPr>
              <a:t>Version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8B0D3"/>
                </a:solidFill>
              </a:defRPr>
            </a:pPr>
            <a:r>
              <a:t>Complete version: v2.7.0 (44 tickets)</a:t>
            </a:r>
          </a:p>
          <a:p>
            <a:pPr>
              <a:defRPr sz="1600">
                <a:solidFill>
                  <a:srgbClr val="A8B0D3"/>
                </a:solidFill>
              </a:defRPr>
            </a:pPr>
            <a:r>
              <a:t>Ongoing version: v2.8.0 (73 tickets)</a:t>
            </a:r>
          </a:p>
          <a:p>
            <a:pPr>
              <a:defRPr sz="1600">
                <a:solidFill>
                  <a:srgbClr val="A8B0D3"/>
                </a:solidFill>
              </a:defRPr>
            </a:pPr>
            <a:r>
              <a:t>Next planned version: v2.9.0 (39 tickets)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EEF2FF"/>
                </a:solidFill>
              </a:rPr>
              <a:t>Aprizal — 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A8B0D3"/>
                </a:solidFill>
              </a:rPr>
              <a:t>Monthly owner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0" cy="4389120"/>
          </a:xfrm>
          <a:prstGeom prst="rect">
            <a:avLst/>
          </a:prstGeom>
          <a:solidFill>
            <a:srgbClr val="121937"/>
          </a:solidFill>
          <a:ln>
            <a:solidFill>
              <a:srgbClr val="2C3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9E0B"/>
                </a:solidFill>
              </a:rPr>
              <a:t>Current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EF2FF"/>
                </a:solidFill>
              </a:defRPr>
            </a:pPr>
            <a:r>
              <a:t>Support engineering task throughput and fixes</a:t>
            </a:r>
          </a:p>
          <a:p>
            <a:pPr>
              <a:defRPr sz="1800">
                <a:solidFill>
                  <a:srgbClr val="EEF2FF"/>
                </a:solidFill>
              </a:defRPr>
            </a:pPr>
            <a:r>
              <a:t>Focus: assigned development items and handoff readiness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9E0B"/>
                </a:solidFill>
              </a:rPr>
              <a:t>Version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8B0D3"/>
                </a:solidFill>
              </a:defRPr>
            </a:pPr>
            <a:r>
              <a:t>Complete version: v2.7.0 (44 tickets)</a:t>
            </a:r>
          </a:p>
          <a:p>
            <a:pPr>
              <a:defRPr sz="1600">
                <a:solidFill>
                  <a:srgbClr val="A8B0D3"/>
                </a:solidFill>
              </a:defRPr>
            </a:pPr>
            <a:r>
              <a:t>Ongoing version: v2.8.0 (73 tickets)</a:t>
            </a:r>
          </a:p>
          <a:p>
            <a:pPr>
              <a:defRPr sz="1600">
                <a:solidFill>
                  <a:srgbClr val="A8B0D3"/>
                </a:solidFill>
              </a:defRPr>
            </a:pPr>
            <a:r>
              <a:t>Next planned version: v2.9.0 (39 tickets)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EEF2FF"/>
                </a:solidFill>
              </a:rPr>
              <a:t>Aryo —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A8B0D3"/>
                </a:solidFill>
              </a:rPr>
              <a:t>Monthly owner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0" cy="4389120"/>
          </a:xfrm>
          <a:prstGeom prst="rect">
            <a:avLst/>
          </a:prstGeom>
          <a:solidFill>
            <a:srgbClr val="121937"/>
          </a:solidFill>
          <a:ln>
            <a:solidFill>
              <a:srgbClr val="2C3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9E0B"/>
                </a:solidFill>
              </a:rPr>
              <a:t>Current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EF2FF"/>
                </a:solidFill>
              </a:defRPr>
            </a:pPr>
            <a:r>
              <a:t>Drive product priorities and scope trade-offs</a:t>
            </a:r>
          </a:p>
          <a:p>
            <a:pPr>
              <a:defRPr sz="1800">
                <a:solidFill>
                  <a:srgbClr val="EEF2FF"/>
                </a:solidFill>
              </a:defRPr>
            </a:pPr>
            <a:r>
              <a:t>Focus: version sequencing and stakeholder alignment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9E0B"/>
                </a:solidFill>
              </a:rPr>
              <a:t>Version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8B0D3"/>
                </a:solidFill>
              </a:defRPr>
            </a:pPr>
            <a:r>
              <a:t>Complete version: v2.7.0 (44 tickets)</a:t>
            </a:r>
          </a:p>
          <a:p>
            <a:pPr>
              <a:defRPr sz="1600">
                <a:solidFill>
                  <a:srgbClr val="A8B0D3"/>
                </a:solidFill>
              </a:defRPr>
            </a:pPr>
            <a:r>
              <a:t>Ongoing version: v2.8.0 (73 tickets)</a:t>
            </a:r>
          </a:p>
          <a:p>
            <a:pPr>
              <a:defRPr sz="1600">
                <a:solidFill>
                  <a:srgbClr val="A8B0D3"/>
                </a:solidFill>
              </a:defRPr>
            </a:pPr>
            <a:r>
              <a:t>Next planned version: v2.9.0 (39 tickets)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EEF2FF"/>
                </a:solidFill>
              </a:rPr>
              <a:t>Eva —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A8B0D3"/>
                </a:solidFill>
              </a:rPr>
              <a:t>Monthly owner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0" cy="4389120"/>
          </a:xfrm>
          <a:prstGeom prst="rect">
            <a:avLst/>
          </a:prstGeom>
          <a:solidFill>
            <a:srgbClr val="121937"/>
          </a:solidFill>
          <a:ln>
            <a:solidFill>
              <a:srgbClr val="2C3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9E0B"/>
                </a:solidFill>
              </a:rPr>
              <a:t>Current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EF2FF"/>
                </a:solidFill>
              </a:defRPr>
            </a:pPr>
            <a:r>
              <a:t>Support product documentation and follow-up</a:t>
            </a:r>
          </a:p>
          <a:p>
            <a:pPr>
              <a:defRPr sz="1800">
                <a:solidFill>
                  <a:srgbClr val="EEF2FF"/>
                </a:solidFill>
              </a:defRPr>
            </a:pPr>
            <a:r>
              <a:t>Focus: open requirement details and progress updates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9E0B"/>
                </a:solidFill>
              </a:rPr>
              <a:t>Version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8B0D3"/>
                </a:solidFill>
              </a:defRPr>
            </a:pPr>
            <a:r>
              <a:t>Complete version: v2.7.0 (44 tickets)</a:t>
            </a:r>
          </a:p>
          <a:p>
            <a:pPr>
              <a:defRPr sz="1600">
                <a:solidFill>
                  <a:srgbClr val="A8B0D3"/>
                </a:solidFill>
              </a:defRPr>
            </a:pPr>
            <a:r>
              <a:t>Ongoing version: v2.8.0 (73 tickets)</a:t>
            </a:r>
          </a:p>
          <a:p>
            <a:pPr>
              <a:defRPr sz="1600">
                <a:solidFill>
                  <a:srgbClr val="A8B0D3"/>
                </a:solidFill>
              </a:defRPr>
            </a:pPr>
            <a:r>
              <a:t>Next planned version: v2.9.0 (39 tickets)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EEF2FF"/>
                </a:solidFill>
              </a:rPr>
              <a:t>Atik —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A8B0D3"/>
                </a:solidFill>
              </a:rPr>
              <a:t>Monthly owner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0" cy="4389120"/>
          </a:xfrm>
          <a:prstGeom prst="rect">
            <a:avLst/>
          </a:prstGeom>
          <a:solidFill>
            <a:srgbClr val="121937"/>
          </a:solidFill>
          <a:ln>
            <a:solidFill>
              <a:srgbClr val="2C3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9E0B"/>
                </a:solidFill>
              </a:rPr>
              <a:t>Current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EF2FF"/>
                </a:solidFill>
              </a:defRPr>
            </a:pPr>
            <a:r>
              <a:t>Support QA/product coordination</a:t>
            </a:r>
          </a:p>
          <a:p>
            <a:pPr>
              <a:defRPr sz="1800">
                <a:solidFill>
                  <a:srgbClr val="EEF2FF"/>
                </a:solidFill>
              </a:defRPr>
            </a:pPr>
            <a:r>
              <a:t>Focus: testing feedback, blockers, and next-step clarity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9E0B"/>
                </a:solidFill>
              </a:rPr>
              <a:t>Version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8B0D3"/>
                </a:solidFill>
              </a:defRPr>
            </a:pPr>
            <a:r>
              <a:t>Complete version: v2.7.0 (44 tickets)</a:t>
            </a:r>
          </a:p>
          <a:p>
            <a:pPr>
              <a:defRPr sz="1600">
                <a:solidFill>
                  <a:srgbClr val="A8B0D3"/>
                </a:solidFill>
              </a:defRPr>
            </a:pPr>
            <a:r>
              <a:t>Ongoing version: v2.8.0 (73 tickets)</a:t>
            </a:r>
          </a:p>
          <a:p>
            <a:pPr>
              <a:defRPr sz="1600">
                <a:solidFill>
                  <a:srgbClr val="A8B0D3"/>
                </a:solidFill>
              </a:defRPr>
            </a:pPr>
            <a:r>
              <a:t>Next planned version: v2.9.0 (39 tickets)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