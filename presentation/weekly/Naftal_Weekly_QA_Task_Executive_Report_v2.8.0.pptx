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1" r:id="rId3"/>
    <p:sldId id="256" r:id="rId4"/>
    <p:sldId id="259" r:id="rId5"/>
    <p:sldId id="260" r:id="rId6"/>
    <p:sldId id="258" r:id="rId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7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WEEKLY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BEC8DC"/>
                </a:solidFill>
              </a:defRPr>
            </a:pPr>
            <a:r>
              <a:t>Executive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2011680" cy="822960"/>
          </a:xfrm>
          <a:prstGeom prst="roundRect">
            <a:avLst/>
          </a:prstGeom>
          <a:solidFill>
            <a:srgbClr val="1C3560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</a:t>
            </a:r>
          </a:p>
          <a:p>
            <a:r>
              <a:t>Total Task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1097280"/>
            <a:ext cx="2011680" cy="822960"/>
          </a:xfrm>
          <a:prstGeom prst="roundRect">
            <a:avLst/>
          </a:prstGeom>
          <a:solidFill>
            <a:srgbClr val="1C3560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40%</a:t>
            </a:r>
          </a:p>
          <a:p>
            <a:r>
              <a:t>Overall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Task by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5F5"/>
                </a:solidFill>
              </a:defRPr>
            </a:pPr>
            <a:r>
              <a:t>In Progress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2404872"/>
            <a:ext cx="2468880" cy="1645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37744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61488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5F5"/>
                </a:solidFill>
              </a:defRPr>
            </a:pPr>
            <a:r>
              <a:t>Completed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2788920"/>
            <a:ext cx="411480" cy="1645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761488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45536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5F5"/>
                </a:solidFill>
              </a:defRPr>
            </a:pPr>
            <a:r>
              <a:t>Review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03120" y="3172968"/>
            <a:ext cx="411480" cy="1645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3145536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29584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5F5"/>
                </a:solidFill>
              </a:defRPr>
            </a:pPr>
            <a:r>
              <a:t>New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3557015"/>
            <a:ext cx="411480" cy="1645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3529584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201168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Task by Difficulty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237744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5F5"/>
                </a:solidFill>
              </a:defRPr>
            </a:pPr>
            <a:r>
              <a:t>Easy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2404872"/>
            <a:ext cx="1234440" cy="164592"/>
          </a:xfrm>
          <a:prstGeom prst="rect">
            <a:avLst/>
          </a:prstGeom>
          <a:solidFill>
            <a:srgbClr val="5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237744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2761488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5F5"/>
                </a:solidFill>
              </a:defRPr>
            </a:pPr>
            <a:r>
              <a:t>Medium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788920"/>
            <a:ext cx="1645920" cy="164592"/>
          </a:xfrm>
          <a:prstGeom prst="rect">
            <a:avLst/>
          </a:prstGeom>
          <a:solidFill>
            <a:srgbClr val="5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2761488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145536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5F5"/>
                </a:solidFill>
              </a:defRPr>
            </a:pPr>
            <a:r>
              <a:t>Hard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3172968"/>
            <a:ext cx="822960" cy="164592"/>
          </a:xfrm>
          <a:prstGeom prst="rect">
            <a:avLst/>
          </a:prstGeom>
          <a:solidFill>
            <a:srgbClr val="5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0" y="3145536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29768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Overall Progress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4663440"/>
            <a:ext cx="7315200" cy="256032"/>
          </a:xfrm>
          <a:prstGeom prst="rect">
            <a:avLst/>
          </a:prstGeom>
          <a:solidFill>
            <a:srgbClr val="1C35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4663440"/>
            <a:ext cx="4315968" cy="2560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45720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40%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46970" y="73152"/>
            <a:ext cx="2057400" cy="713232"/>
          </a:xfrm>
          <a:prstGeom prst="roundRect">
            <a:avLst/>
          </a:prstGeom>
          <a:solidFill>
            <a:srgbClr val="1C3560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NAFTAL YUNIOR</a:t>
            </a:r>
          </a:p>
          <a:p>
            <a:r>
              <a:t>Engineering Lead</a:t>
            </a:r>
          </a:p>
          <a:p>
            <a:r>
              <a:t>Ver 2.8.0</a:t>
            </a:r>
          </a:p>
          <a:p>
            <a:r>
              <a:t>22 - 07 - 2026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/>
        </p:nvSpPr>
        <p:spPr>
          <a:xfrm>
            <a:off x="731520" y="1188720"/>
            <a:ext cx="1645920" cy="731520"/>
          </a:xfrm>
          <a:prstGeom prst="roundRect">
            <a:avLst/>
          </a:prstGeom>
          <a:solidFill>
            <a:srgbClr val="1C3560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</a:t>
            </a:r>
          </a:p>
          <a:p>
            <a:r>
              <a:t>Total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188720"/>
            <a:ext cx="1645920" cy="731520"/>
          </a:xfrm>
          <a:prstGeom prst="roundRect">
            <a:avLst/>
          </a:prstGeom>
          <a:solidFill>
            <a:srgbClr val="1C3560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0</a:t>
            </a:r>
          </a:p>
          <a:p>
            <a:r>
              <a:t>Completed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188720"/>
            <a:ext cx="1645920" cy="731520"/>
          </a:xfrm>
          <a:prstGeom prst="roundRect">
            <a:avLst/>
          </a:prstGeom>
          <a:solidFill>
            <a:srgbClr val="1C3560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</a:t>
            </a:r>
          </a:p>
          <a:p>
            <a:r>
              <a:t>In Progress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188720"/>
            <a:ext cx="1645920" cy="731520"/>
          </a:xfrm>
          <a:prstGeom prst="roundRect">
            <a:avLst/>
          </a:prstGeom>
          <a:solidFill>
            <a:srgbClr val="1C3560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0</a:t>
            </a:r>
          </a:p>
          <a:p>
            <a:r>
              <a:t>Blocker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03120"/>
            <a:ext cx="10607040" cy="4114800"/>
          </a:xfrm>
          <a:prstGeom prst="rect">
            <a:avLst/>
          </a:prstGeom>
          <a:solidFill>
            <a:srgbClr val="1C3560"/>
          </a:solidFill>
          <a:ln>
            <a:solidFill>
              <a:srgbClr val="2D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10607040" cy="50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4028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5F5"/>
                </a:solidFill>
              </a:defRPr>
            </a:pPr>
            <a:r>
              <a:t>TASK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100584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Task</a:t>
            </a:r>
          </a:p>
          <a:p>
            <a:r>
              <a:t>Status</a:t>
            </a:r>
          </a:p>
          <a:p>
            <a:r>
              <a:t>Difficulty</a:t>
            </a:r>
          </a:p>
          <a:p>
            <a:r>
              <a:t>Progress</a:t>
            </a:r>
          </a:p>
          <a:p>
            <a:r>
              <a:t>• Technical Analysis Ticket v2.8.0</a:t>
            </a:r>
          </a:p>
          <a:p>
            <a:r>
              <a:t>In Progress</a:t>
            </a:r>
          </a:p>
          <a:p>
            <a:r>
              <a:t>Medium</a:t>
            </a:r>
          </a:p>
          <a:p>
            <a:r>
              <a:t>40%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097280"/>
            <a:ext cx="11155680" cy="5394960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1280160"/>
            <a:ext cx="1737360" cy="822960"/>
          </a:xfrm>
          <a:prstGeom prst="roundRect">
            <a:avLst/>
          </a:prstGeom>
          <a:solidFill>
            <a:srgbClr val="1C3560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</a:t>
            </a:r>
          </a:p>
          <a:p>
            <a:r>
              <a:t>Total Task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1280160"/>
            <a:ext cx="1737360" cy="822960"/>
          </a:xfrm>
          <a:prstGeom prst="roundRect">
            <a:avLst/>
          </a:prstGeom>
          <a:solidFill>
            <a:srgbClr val="1C3560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0</a:t>
            </a:r>
          </a:p>
          <a:p>
            <a:r>
              <a:t>Completed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280160"/>
            <a:ext cx="1737360" cy="822960"/>
          </a:xfrm>
          <a:prstGeom prst="roundRect">
            <a:avLst/>
          </a:prstGeom>
          <a:solidFill>
            <a:srgbClr val="1C3560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</a:t>
            </a:r>
          </a:p>
          <a:p>
            <a:r>
              <a:t>In Progress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78040" y="1280160"/>
            <a:ext cx="1737360" cy="822960"/>
          </a:xfrm>
          <a:prstGeom prst="roundRect">
            <a:avLst/>
          </a:prstGeom>
          <a:solidFill>
            <a:srgbClr val="1C3560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0</a:t>
            </a:r>
          </a:p>
          <a:p>
            <a:r>
              <a:t>New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1280160"/>
            <a:ext cx="1737360" cy="822960"/>
          </a:xfrm>
          <a:prstGeom prst="roundRect">
            <a:avLst/>
          </a:prstGeom>
          <a:solidFill>
            <a:srgbClr val="1C3560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0</a:t>
            </a:r>
          </a:p>
          <a:p>
            <a:r>
              <a:t>Blocker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2402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CC71"/>
                </a:solidFill>
              </a:defRPr>
            </a:pPr>
            <a:r>
              <a:t>WEEKLY CHECKPOINT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4820" y="164592"/>
            <a:ext cx="5303520" cy="868680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01168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5F5"/>
                </a:solidFill>
              </a:defRPr>
            </a:pPr>
            <a:r>
              <a:t>WEEKLY EXECUTIVE SUMMARY</a:t>
            </a:r>
          </a:p>
        </p:txBody>
      </p:sp>
      <p:sp>
        <p:nvSpPr>
          <p:cNvPr id="28" name="TextBox 26"/>
          <p:cNvSpPr txBox="1"/>
          <p:nvPr/>
        </p:nvSpPr>
        <p:spPr>
          <a:xfrm>
            <a:off x="658368" y="603504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C8DC"/>
                </a:solidFill>
              </a:defRPr>
            </a:pPr>
            <a:r>
              <a:t>Sprint Progress • Version 2.8.0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46970" y="73152"/>
            <a:ext cx="2057400" cy="713232"/>
          </a:xfrm>
          <a:prstGeom prst="roundRect">
            <a:avLst/>
          </a:prstGeom>
          <a:solidFill>
            <a:srgbClr val="1C3560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NAFTAL YUNIOR</a:t>
            </a:r>
          </a:p>
          <a:p>
            <a:r>
              <a:t>Engineering Lead</a:t>
            </a:r>
          </a:p>
          <a:p>
            <a:r>
              <a:t>Ver 2.8.0</a:t>
            </a:r>
          </a:p>
          <a:p>
            <a:r>
              <a:t>22 - 07 - 2026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731520" y="256032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1828800"/>
                <a:gridCol w="1554480"/>
                <a:gridCol w="1828800"/>
              </a:tblGrid>
              <a:tr h="329184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ECC71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CC71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CC71"/>
                          </a:solidFill>
                        </a:defRPr>
                      </a:pPr>
                      <a:r>
                        <a:t>Difficulty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ECC71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Timeline Arrangement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Easy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70%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Chatbot Classifier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Hard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Notification PRD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65%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Mobile Ticketing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Review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Prepare Script Testing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Socket Testing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Hard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Auto Tag Testing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New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Mentor Intern QA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Easy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75%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Meeting SAP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Easy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5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MINGGU LALU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C8DC"/>
                </a:solidFill>
              </a:defRPr>
            </a:pPr>
            <a:r>
              <a:t>Task Breakdown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10972800" cy="502920"/>
          </a:xfrm>
          <a:prstGeom prst="roundRect">
            <a:avLst/>
          </a:prstGeom>
          <a:solidFill>
            <a:srgbClr val="1C3560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F5F5"/>
                </a:solidFill>
              </a:defRPr>
            </a:pPr>
            <a:r>
              <a:t>Completed &amp; Ongoing Tasks - Last Week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9728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1828800"/>
                <a:gridCol w="3657600"/>
              </a:tblGrid>
              <a:tr h="467360">
                <a:tc>
                  <a:txBody>
                    <a:bodyPr/>
                    <a:lstStyle/>
                    <a:p>
                      <a:r>
                        <a:t>Task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Notes / Outcome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t>Technical Analysis Ticket v2.8.0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In Progress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Task dibuat, version prod-2.8.0 ditetapkan, kickoff analisis superadmin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t>Analysis ticket superadmin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Completed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 jam spesifikasi tercatat pada 30 Jun 2026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t>Superadmin PRD + TRD planning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Completed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 jam analisis, TRD, dan rencana development pada 1 Jul 2026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t>Template Builder WA API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Completed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 jam improvement analysis pada 7 Jul 2026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t>Global Search improvement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Completed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 jam improvement analysis pada 13 Jul 2026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t>Status update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Completed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 berubah dari New ke In progress pada 7 Jul 2026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t>Progress summary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Ongoing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Total effort 10 jam, fokus masih analisis/specification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Meeting SAP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Requirement alignment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</a:tbl>
          </a:graphicData>
        </a:graphic>
      </p:graphicFrame>
      <p:sp>
        <p:nvSpPr>
          <p:cNvPr id="34" name="Rounded Rectangle 33"/>
          <p:cNvSpPr/>
          <p:nvPr/>
        </p:nvSpPr>
        <p:spPr>
          <a:xfrm>
            <a:off x="10046970" y="73152"/>
            <a:ext cx="2057400" cy="713232"/>
          </a:xfrm>
          <a:prstGeom prst="roundRect">
            <a:avLst/>
          </a:prstGeom>
          <a:solidFill>
            <a:srgbClr val="1C3560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NAFTAL YUNIOR</a:t>
            </a:r>
          </a:p>
          <a:p>
            <a:r>
              <a:t>Engineering Lead</a:t>
            </a:r>
          </a:p>
          <a:p>
            <a:r>
              <a:t>Ver 2.8.0</a:t>
            </a:r>
          </a:p>
          <a:p>
            <a:r>
              <a:t>22 - 07 - 2026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MINGGU BERJALAN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C8DC"/>
                </a:solidFill>
              </a:defRPr>
            </a:pPr>
            <a:r>
              <a:t>Task Breakdown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10972800" cy="502920"/>
          </a:xfrm>
          <a:prstGeom prst="roundRect">
            <a:avLst/>
          </a:prstGeom>
          <a:solidFill>
            <a:srgbClr val="1C3560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F5F5"/>
                </a:solidFill>
              </a:defRPr>
            </a:pPr>
            <a:r>
              <a:t>Current Week Activities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9728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1828800"/>
                <a:gridCol w="3657600"/>
              </a:tblGrid>
              <a:tr h="467360">
                <a:tc>
                  <a:txBody>
                    <a:bodyPr/>
                    <a:lstStyle/>
                    <a:p>
                      <a:r>
                        <a:t>Task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Notes / Outcome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t>Technical Analysis Ticket v2.8.0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In Progress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Open task utama untuk analisis ticket versi 2.8.0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t>Superadmin analysis consolidation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In Progress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Hasil analisis ticket superadmin perlu dirapikan jadi output final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t>TRD / development planning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In Progress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Rencana development sudah dibuka, butuh breakdown next action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t>Search global improvement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In Progress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Analisis improvement terakhir tercatat 13 Jul 2026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t>Template Builder WA API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In Progress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Analisis improvement sudah ada, tindak lanjut implementasi belum tercatat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t>Progress tracking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In Progress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 task masih In progress, belum ada % progress di OpenProject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t>Next checkpoint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Planned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Butuh keputusan deliverable final dan close task setelah analisis selesai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Mentor QA Intern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5"/>
                          </a:solidFill>
                        </a:defRPr>
                      </a:pPr>
                      <a:r>
                        <a:t>Pendampingan</a:t>
                      </a:r>
                    </a:p>
                  </a:txBody>
                  <a:tcPr>
                    <a:solidFill>
                      <a:srgbClr val="1C3560"/>
                    </a:solidFill>
                  </a:tcPr>
                </a:tc>
              </a:tr>
            </a:tbl>
          </a:graphicData>
        </a:graphic>
      </p:graphicFrame>
      <p:sp>
        <p:nvSpPr>
          <p:cNvPr id="34" name="Rounded Rectangle 33"/>
          <p:cNvSpPr/>
          <p:nvPr/>
        </p:nvSpPr>
        <p:spPr>
          <a:xfrm>
            <a:off x="10046970" y="73152"/>
            <a:ext cx="2057400" cy="713232"/>
          </a:xfrm>
          <a:prstGeom prst="roundRect">
            <a:avLst/>
          </a:prstGeom>
          <a:solidFill>
            <a:srgbClr val="1C3560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NAFTAL YUNIOR</a:t>
            </a:r>
          </a:p>
          <a:p>
            <a:r>
              <a:t>Engineering Lead</a:t>
            </a:r>
          </a:p>
          <a:p>
            <a:r>
              <a:t>Ver 2.8.0</a:t>
            </a:r>
          </a:p>
          <a:p>
            <a:r>
              <a:t>22 - 07 - 2026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BLOCKING POINT &amp;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ENGINEERING LEAD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07040" cy="4937760"/>
          </a:xfrm>
          <a:prstGeom prst="rect">
            <a:avLst/>
          </a:prstGeom>
          <a:solidFill>
            <a:srgbClr val="1C3560"/>
          </a:solidFill>
          <a:ln>
            <a:solidFill>
              <a:srgbClr val="2D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607040" cy="50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32588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5F5"/>
                </a:solidFill>
              </a:defRPr>
            </a:pPr>
            <a:r>
              <a:t>BLOCKING 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Progress persen belum diisi di OpenProject, jadi dashboard pakai estimasi manual 40%</a:t>
            </a:r>
          </a:p>
          <a:p>
            <a:r>
              <a:t>• Description task kosong, konteks detail hanya muncul dari time entry dan activity log</a:t>
            </a:r>
          </a:p>
          <a:p>
            <a:r>
              <a:t>• Belum ada due date dan milestone penutupan task</a:t>
            </a:r>
          </a:p>
          <a:p>
            <a:r>
              <a:t>• Belum ada relation ke task implementasi, jadi follow-up sulit ditrace</a:t>
            </a:r>
          </a:p>
          <a:p>
            <a:r>
              <a:t>• Rekomendasi: isi progress %, outcome analisis final, dan link task turunan implementasi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46970" y="73152"/>
            <a:ext cx="2057400" cy="713232"/>
          </a:xfrm>
          <a:prstGeom prst="roundRect">
            <a:avLst/>
          </a:prstGeom>
          <a:solidFill>
            <a:srgbClr val="1C3560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NAFTAL YUNIOR</a:t>
            </a:r>
          </a:p>
          <a:p>
            <a:r>
              <a:t>Engineering Lead</a:t>
            </a:r>
          </a:p>
          <a:p>
            <a:r>
              <a:t>Ver 2.8.0</a:t>
            </a:r>
          </a:p>
          <a:p>
            <a:r>
              <a:t>22 - 07 - 2026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2572</Words>
  <Application>WPS Presentation</Application>
  <PresentationFormat>On-screen Show (4:3)</PresentationFormat>
  <Paragraphs>331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Flinct</cp:lastModifiedBy>
  <cp:revision>5</cp:revision>
  <dcterms:created xsi:type="dcterms:W3CDTF">2013-01-27T09:14:00Z</dcterms:created>
  <dcterms:modified xsi:type="dcterms:W3CDTF">2026-07-22T15:01:06Z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A9653FF63C7F44FBB15C21B5A0815108_12</vt:lpwstr>
  </property>
</Properties>
</file>